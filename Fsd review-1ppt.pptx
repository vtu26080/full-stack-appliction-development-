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7" r:id="rId12"/>
    <p:sldId id="268" r:id="rId13"/>
    <p:sldId id="266" r:id="rId14"/>
    <p:sldId id="269" r:id="rId15"/>
    <p:sldId id="270" r:id="rId16"/>
    <p:sldId id="265" r:id="rId17"/>
  </p:sldIdLst>
  <p:sldSz cx="18288000" cy="10287000"/>
  <p:notesSz cx="6858000" cy="9144000"/>
  <p:embeddedFontLst>
    <p:embeddedFont>
      <p:font typeface="Cambria" panose="02040503050406030204" pitchFamily="18" charset="0"/>
      <p:regular r:id="rId21"/>
      <p:bold r:id="rId22"/>
      <p:italic r:id="rId23"/>
      <p:boldItalic r:id="rId24"/>
    </p:embeddedFont>
    <p:embeddedFont>
      <p:font typeface="Bookman Old Style" panose="02050604050505020204" pitchFamily="18" charset="0"/>
      <p:regular r:id="rId25"/>
      <p:bold r:id="rId26"/>
      <p:italic r:id="rId27"/>
    </p:embeddedFont>
    <p:embeddedFont>
      <p:font typeface="Gotham"/>
      <p:regular r:id="rId28"/>
    </p:embeddedFont>
    <p:embeddedFont>
      <p:font typeface="Calibri" panose="020F0502020204030204" charset="0"/>
      <p:regular r:id="rId29"/>
      <p:bold r:id="rId30"/>
      <p:italic r:id="rId31"/>
      <p:boldItalic r:id="rId32"/>
    </p:embeddedFont>
    <p:embeddedFont>
      <p:font typeface="Calibri" panose="020F0502020204030204" pitchFamily="34" charset="-122"/>
      <p:regular r:id="rId33"/>
    </p:embeddedFont>
    <p:embeddedFont>
      <p:font typeface="Calibri" panose="020F0502020204030204" pitchFamily="34" charset="-120"/>
      <p:regular r:id="rId34"/>
    </p:embeddedFont>
    <p:embeddedFont>
      <p:font typeface="Arial Black" panose="020B0A04020102020204" charset="0"/>
      <p:bold r:id="rId35"/>
    </p:embeddedFont>
    <p:embeddedFont>
      <p:font typeface="Gotham Bold Italics" panose="02000000000000000000"/>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40" d="100"/>
          <a:sy n="40" d="100"/>
        </p:scale>
        <p:origin x="20" y="48"/>
      </p:cViewPr>
      <p:guideLst>
        <p:guide orient="horz" pos="2128"/>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font" Target="fonts/font16.fntdata"/><Relationship Id="rId35" Type="http://schemas.openxmlformats.org/officeDocument/2006/relationships/font" Target="fonts/font15.fntdata"/><Relationship Id="rId34" Type="http://schemas.openxmlformats.org/officeDocument/2006/relationships/font" Target="fonts/font14.fntdata"/><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US" altLang="en-IN" sz="3600" b="1" dirty="0">
                <a:solidFill>
                  <a:srgbClr val="C00000"/>
                </a:solidFill>
                <a:latin typeface="Arial" panose="020B0604020202020204" pitchFamily="34" charset="0"/>
                <a:cs typeface="Arial" panose="020B0604020202020204" pitchFamily="34" charset="0"/>
              </a:rPr>
              <a:t>23</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03</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2026</a:t>
            </a:r>
            <a:endParaRPr lang="en-US" alt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Academic Campus Event &amp; Registration Portal</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L. ADINARAYANA – </a:t>
            </a:r>
            <a:r>
              <a:rPr lang="en-US" sz="3000" dirty="0" err="1">
                <a:latin typeface="Cambria" panose="02040503050406030204" pitchFamily="18" charset="0"/>
                <a:ea typeface="Cambria" panose="02040503050406030204" pitchFamily="18" charset="0"/>
              </a:rPr>
              <a:t>VTU26080</a:t>
            </a:r>
            <a:r>
              <a:rPr lang="en-US" sz="3000" dirty="0">
                <a:latin typeface="Cambria" panose="02040503050406030204" pitchFamily="18" charset="0"/>
                <a:ea typeface="Cambria" panose="02040503050406030204" pitchFamily="18" charset="0"/>
              </a:rPr>
              <a:t> – 23UECS0790</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744200" y="7658100"/>
            <a:ext cx="7633335"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Dr. HAFIZUR RAHMAN - </a:t>
            </a:r>
            <a:r>
              <a:rPr lang="en-US" altLang="en-US" sz="3000" dirty="0">
                <a:latin typeface="Cambria" panose="02040503050406030204" pitchFamily="18" charset="0"/>
                <a:ea typeface="Cambria" panose="02040503050406030204" pitchFamily="18" charset="0"/>
              </a:rPr>
              <a:t>B.E., M.Tech., Ph.D.</a:t>
            </a:r>
            <a:endParaRPr lang="en-US" altLang="en-US" sz="3000" dirty="0">
              <a:latin typeface="Cambria" panose="02040503050406030204" pitchFamily="18" charset="0"/>
              <a:ea typeface="Cambria" panose="02040503050406030204" pitchFamily="18" charset="0"/>
            </a:endParaRPr>
          </a:p>
          <a:p>
            <a:pPr>
              <a:lnSpc>
                <a:spcPct val="150000"/>
              </a:lnSpc>
            </a:pPr>
            <a:r>
              <a:rPr lang="en-US" altLang="en-US" sz="3000" dirty="0">
                <a:latin typeface="Cambria" panose="02040503050406030204" pitchFamily="18" charset="0"/>
                <a:ea typeface="Cambria" panose="02040503050406030204" pitchFamily="18" charset="0"/>
              </a:rPr>
              <a:t>ASSISTANT PROFESSOR</a:t>
            </a:r>
            <a:endParaRPr lang="en-US" altLang="en-US"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endParaRPr lang="en-US" sz="2700" dirty="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1301813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r>
              <a:rPr lang="en-US" sz="2800" b="1" dirty="0">
                <a:solidFill>
                  <a:srgbClr val="0070C0"/>
                </a:solidFill>
              </a:rPr>
              <a:t>Background of the problem</a:t>
            </a:r>
            <a:endParaRPr lang="en-US" sz="2800" b="1" dirty="0">
              <a:solidFill>
                <a:srgbClr val="0070C0"/>
              </a:solidFill>
            </a:endParaRPr>
          </a:p>
          <a:p>
            <a:pPr marL="457200" indent="-457200">
              <a:buFontTx/>
              <a:buChar char="-"/>
            </a:pPr>
            <a:r>
              <a:rPr lang="en-US" altLang="en-US" sz="2800" dirty="0"/>
              <a:t>Traditional campus event management is manual and inefficient, making registration and tracking difficult.</a:t>
            </a:r>
            <a:endParaRPr lang="en-US" altLang="en-US" sz="2800" dirty="0"/>
          </a:p>
          <a:p>
            <a:pPr marL="457200" indent="-457200">
              <a:buFontTx/>
              <a:buChar char="-"/>
            </a:pPr>
            <a:endParaRPr lang="en-US" altLang="en-US" sz="2800" dirty="0"/>
          </a:p>
          <a:p>
            <a:pPr marL="457200" indent="-457200">
              <a:buFontTx/>
              <a:buChar char="-"/>
            </a:pPr>
            <a:r>
              <a:rPr lang="en-US" sz="2800" b="1" dirty="0">
                <a:solidFill>
                  <a:srgbClr val="0070C0"/>
                </a:solidFill>
              </a:rPr>
              <a:t>Why this project is important</a:t>
            </a:r>
            <a:endParaRPr lang="en-US" sz="2800" b="1" dirty="0">
              <a:solidFill>
                <a:srgbClr val="0070C0"/>
              </a:solidFill>
            </a:endParaRPr>
          </a:p>
          <a:p>
            <a:pPr marL="457200" indent="-457200">
              <a:buFontTx/>
              <a:buChar char="-"/>
            </a:pPr>
            <a:r>
              <a:rPr lang="en-US" altLang="en-US" sz="2800" dirty="0">
                <a:gradFill>
                  <a:gsLst>
                    <a:gs pos="50000">
                      <a:schemeClr val="tx1"/>
                    </a:gs>
                    <a:gs pos="0">
                      <a:schemeClr val="tx1">
                        <a:lumMod val="25000"/>
                        <a:lumOff val="75000"/>
                      </a:schemeClr>
                    </a:gs>
                    <a:gs pos="100000">
                      <a:schemeClr val="tx1">
                        <a:lumMod val="85000"/>
                      </a:schemeClr>
                    </a:gs>
                  </a:gsLst>
                  <a:lin ang="5400000" scaled="1"/>
                </a:gradFill>
              </a:rPr>
              <a:t>This project is important because it simplifies event management, saves time, reduces manual errors, and provides a centralized system for students and administrators.</a:t>
            </a:r>
            <a:endParaRPr lang="en-US" altLang="en-US" sz="2800" dirty="0">
              <a:gradFill>
                <a:gsLst>
                  <a:gs pos="50000">
                    <a:schemeClr val="tx1"/>
                  </a:gs>
                  <a:gs pos="0">
                    <a:schemeClr val="tx1">
                      <a:lumMod val="25000"/>
                      <a:lumOff val="75000"/>
                    </a:schemeClr>
                  </a:gs>
                  <a:gs pos="100000">
                    <a:schemeClr val="tx1">
                      <a:lumMod val="85000"/>
                    </a:schemeClr>
                  </a:gs>
                </a:gsLst>
                <a:lin ang="5400000" scaled="1"/>
              </a:gradFill>
            </a:endParaRPr>
          </a:p>
          <a:p>
            <a:pPr marL="457200" indent="-457200">
              <a:buFontTx/>
              <a:buChar char="-"/>
            </a:pPr>
            <a:endParaRPr lang="en-US" altLang="en-US" sz="2800" dirty="0">
              <a:gradFill>
                <a:gsLst>
                  <a:gs pos="50000">
                    <a:schemeClr val="tx1"/>
                  </a:gs>
                  <a:gs pos="0">
                    <a:schemeClr val="tx1">
                      <a:lumMod val="25000"/>
                      <a:lumOff val="75000"/>
                    </a:schemeClr>
                  </a:gs>
                  <a:gs pos="100000">
                    <a:schemeClr val="tx1">
                      <a:lumMod val="85000"/>
                    </a:schemeClr>
                  </a:gs>
                </a:gsLst>
                <a:lin ang="5400000" scaled="1"/>
              </a:gradFill>
            </a:endParaRPr>
          </a:p>
          <a:p>
            <a:pPr marL="457200" indent="-457200">
              <a:buFontTx/>
              <a:buChar char="-"/>
            </a:pPr>
            <a:r>
              <a:rPr lang="en-US" sz="2800" b="1" dirty="0">
                <a:solidFill>
                  <a:srgbClr val="0070C0"/>
                </a:solidFill>
              </a:rPr>
              <a:t>Real-world relevance</a:t>
            </a:r>
            <a:endParaRPr lang="en-US" sz="2800" b="1" dirty="0">
              <a:solidFill>
                <a:srgbClr val="0070C0"/>
              </a:solidFill>
            </a:endParaRPr>
          </a:p>
          <a:p>
            <a:pPr marL="457200" indent="-457200">
              <a:buFontTx/>
              <a:buChar char="-"/>
            </a:pPr>
            <a:r>
              <a:rPr lang="en-US" altLang="en-US" sz="2800" dirty="0"/>
              <a:t>It is useful for managing college events like workshops, seminars, fests, and technical programs.</a:t>
            </a:r>
            <a:endParaRPr lang="en-US" altLang="en-US" sz="2800" dirty="0"/>
          </a:p>
          <a:p>
            <a:pPr marL="457200" indent="-457200">
              <a:buFontTx/>
              <a:buChar char="-"/>
            </a:pPr>
            <a:endParaRPr lang="en-US" sz="2800" dirty="0"/>
          </a:p>
          <a:p>
            <a:pPr marL="457200" indent="-457200">
              <a:buFontTx/>
              <a:buChar char="-"/>
            </a:pPr>
            <a:r>
              <a:rPr lang="en-US" sz="2800" b="1" dirty="0">
                <a:solidFill>
                  <a:srgbClr val="0070C0"/>
                </a:solidFill>
              </a:rPr>
              <a:t>Brief overview of the system</a:t>
            </a:r>
            <a:endParaRPr lang="en-US" sz="2800" b="1" dirty="0">
              <a:solidFill>
                <a:srgbClr val="0070C0"/>
              </a:solidFill>
            </a:endParaRPr>
          </a:p>
          <a:p>
            <a:pPr marL="457200" indent="-457200">
              <a:buFontTx/>
              <a:buChar char="-"/>
            </a:pPr>
            <a:r>
              <a:rPr lang="en-US" altLang="en-US" sz="2800" dirty="0"/>
              <a:t>An online portal that allows admins to create events and students to register and manage              participation digitally.</a:t>
            </a: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55800" y="1922780"/>
            <a:ext cx="15946120" cy="7738745"/>
          </a:xfrm>
          <a:prstGeom prst="rect">
            <a:avLst/>
          </a:prstGeom>
          <a:noFill/>
        </p:spPr>
        <p:txBody>
          <a:bodyPr wrap="square" rtlCol="0">
            <a:noAutofit/>
          </a:bodyPr>
          <a:lstStyle/>
          <a:p>
            <a:pPr indent="0">
              <a:buFontTx/>
              <a:buNone/>
            </a:pPr>
            <a:endParaRPr lang="en-US" sz="36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None/>
            </a:pPr>
            <a:r>
              <a:rPr lang="en-US" sz="3600" dirty="0">
                <a:latin typeface="Times New Roman" panose="02020603050405020304" pitchFamily="18" charset="0"/>
                <a:cs typeface="Times New Roman" panose="02020603050405020304" pitchFamily="18" charset="0"/>
              </a:rPr>
              <a:t> </a:t>
            </a:r>
            <a:r>
              <a:rPr lang="en-IN" altLang="en-US" sz="36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a:t>
            </a:r>
            <a:r>
              <a:rPr lang="en-US" altLang="en-US" sz="3600" dirty="0">
                <a:latin typeface="Times New Roman" panose="02020603050405020304" pitchFamily="18" charset="0"/>
                <a:cs typeface="Times New Roman" panose="02020603050405020304" pitchFamily="18" charset="0"/>
              </a:rPr>
              <a:t>In many educational institutions, campus events are managed manually or using basic tools that lack proper automation. This creates difficulties in handling registrations, approvals, attendance tracking, and communication with participants efficiently. Manual management increases paperwork, consumes time, and may lead to data errors or mismanagement. There is a need for a secure and centralized event management system that can streamline event creation, student registration, participant tracking, and automated notifications. Such a system improves efficiency, accuracy, and overall campus event coordination.</a:t>
            </a:r>
            <a:endParaRPr lang="en-US" alt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1638300"/>
            <a:ext cx="15082325" cy="6185535"/>
          </a:xfrm>
          <a:prstGeom prst="rect">
            <a:avLst/>
          </a:prstGeom>
          <a:noFill/>
        </p:spPr>
        <p:txBody>
          <a:bodyPr wrap="square" rtlCol="0">
            <a:spAutoFit/>
          </a:bodyPr>
          <a:lstStyle/>
          <a:p>
            <a:pPr indent="0">
              <a:buFontTx/>
              <a:buNone/>
            </a:pPr>
            <a:endParaRPr lang="en-US" sz="3600" dirty="0">
              <a:latin typeface="Times New Roman" panose="02020603050405020304" pitchFamily="18" charset="0"/>
              <a:cs typeface="Times New Roman" panose="02020603050405020304" pitchFamily="18" charset="0"/>
            </a:endParaRPr>
          </a:p>
          <a:p>
            <a:pPr marL="514350" indent="-514350">
              <a:buFontTx/>
              <a:buAutoNum type="arabicPeriod"/>
            </a:pPr>
            <a:r>
              <a:rPr lang="en-US" altLang="en-US" sz="3600" dirty="0">
                <a:latin typeface="Times New Roman" panose="02020603050405020304" pitchFamily="18" charset="0"/>
                <a:cs typeface="Times New Roman" panose="02020603050405020304" pitchFamily="18" charset="0"/>
              </a:rPr>
              <a:t>To design and develop a web-based Academic Campus Event &amp; Registration Portal with secure user authentication and role-based access.</a:t>
            </a:r>
            <a:endParaRPr lang="en-US" altLang="en-US" sz="3600" dirty="0">
              <a:latin typeface="Times New Roman" panose="02020603050405020304" pitchFamily="18" charset="0"/>
              <a:cs typeface="Times New Roman" panose="02020603050405020304" pitchFamily="18" charset="0"/>
            </a:endParaRPr>
          </a:p>
          <a:p>
            <a:pPr marL="514350" indent="-514350">
              <a:buFontTx/>
              <a:buAutoNum type="arabicPeriod"/>
            </a:pPr>
            <a:endParaRPr lang="en-US" sz="3600" dirty="0">
              <a:latin typeface="Times New Roman" panose="02020603050405020304" pitchFamily="18" charset="0"/>
              <a:cs typeface="Times New Roman" panose="02020603050405020304" pitchFamily="18" charset="0"/>
            </a:endParaRPr>
          </a:p>
          <a:p>
            <a:pPr marL="514350" indent="-514350">
              <a:buFontTx/>
              <a:buAutoNum type="arabicPeriod"/>
            </a:pPr>
            <a:r>
              <a:rPr lang="en-US" altLang="en-US" sz="3600" dirty="0">
                <a:latin typeface="Times New Roman" panose="02020603050405020304" pitchFamily="18" charset="0"/>
                <a:cs typeface="Times New Roman" panose="02020603050405020304" pitchFamily="18" charset="0"/>
              </a:rPr>
              <a:t>To implement online event creation, student registration, participant management, and automated notifications for efficient event coordination.</a:t>
            </a:r>
            <a:endParaRPr lang="en-US" alt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743200" y="1638300"/>
            <a:ext cx="15082325" cy="12586970"/>
          </a:xfrm>
          <a:prstGeom prst="rect">
            <a:avLst/>
          </a:prstGeom>
          <a:noFill/>
        </p:spPr>
        <p:txBody>
          <a:bodyPr wrap="square" rtlCol="0">
            <a:spAutoFit/>
          </a:bodyPr>
          <a:lstStyle/>
          <a:p>
            <a:pPr marL="514350" indent="-514350">
              <a:buFont typeface="Arial" panose="020B0604020202020204" pitchFamily="34" charset="0"/>
              <a:buChar char="•"/>
            </a:pPr>
            <a:r>
              <a:rPr lang="en-US" altLang="en-US" sz="2800" dirty="0"/>
              <a:t>The proposed system is a web-based Academic Campus Event &amp; Registration Portal that manages events, users, and registrations in one platform.</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It allows students to register for campus events easily through an online interface.</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Admin can create, update, and manage events and participant details.</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The system tracks registrations and maintains participant records automatically.</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It sends notifications or confirmations to registered participants.</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It reduces manual paperwork and administrative workload.</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It minimizes errors in registration and data management.</a:t>
            </a:r>
            <a:endParaRPr lang="en-US" altLang="en-US" sz="2800" dirty="0"/>
          </a:p>
          <a:p>
            <a:pPr marL="514350" indent="-514350">
              <a:buFont typeface="Arial" panose="020B0604020202020204" pitchFamily="34" charset="0"/>
              <a:buChar char="•"/>
            </a:pPr>
            <a:endParaRPr lang="en-US" altLang="en-US" sz="2800" dirty="0"/>
          </a:p>
          <a:p>
            <a:pPr marL="514350" indent="-514350">
              <a:buFont typeface="Arial" panose="020B0604020202020204" pitchFamily="34" charset="0"/>
              <a:buChar char="•"/>
            </a:pPr>
            <a:r>
              <a:rPr lang="en-US" altLang="en-US" sz="2800" dirty="0"/>
              <a:t>It provides a faster and more efficient solution compared to traditional manual systems.</a:t>
            </a:r>
            <a:endParaRPr lang="en-US" altLang="en-US" sz="2800" dirty="0"/>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Screenshot 2026-03-22 163222"/>
          <p:cNvPicPr>
            <a:picLocks noChangeAspect="1"/>
          </p:cNvPicPr>
          <p:nvPr/>
        </p:nvPicPr>
        <p:blipFill>
          <a:blip r:embed="rId3"/>
          <a:stretch>
            <a:fillRect/>
          </a:stretch>
        </p:blipFill>
        <p:spPr>
          <a:xfrm>
            <a:off x="4371975" y="2052320"/>
            <a:ext cx="9544050" cy="61817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562100"/>
            <a:ext cx="15082325" cy="4831080"/>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3"/>
          <a:stretch>
            <a:fillRect/>
          </a:stretch>
        </p:blipFill>
        <p:spPr>
          <a:xfrm>
            <a:off x="4695825" y="2276475"/>
            <a:ext cx="8896350" cy="57340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590800" y="1409700"/>
            <a:ext cx="15082325" cy="14310995"/>
          </a:xfrm>
          <a:prstGeom prst="rect">
            <a:avLst/>
          </a:prstGeom>
          <a:noFill/>
        </p:spPr>
        <p:txBody>
          <a:bodyPr wrap="square" rtlCol="0">
            <a:spAutoFit/>
          </a:bodyPr>
          <a:lstStyle/>
          <a:p>
            <a:pPr marL="457200" indent="-457200">
              <a:buFontTx/>
              <a:buChar char="-"/>
            </a:pPr>
            <a:r>
              <a:rPr lang="en-US" sz="2800" b="1" dirty="0">
                <a:solidFill>
                  <a:srgbClr val="0070C0"/>
                </a:solidFill>
              </a:rPr>
              <a:t>Frontend</a:t>
            </a:r>
            <a:r>
              <a:rPr lang="en-US" sz="2800" dirty="0"/>
              <a:t>:</a:t>
            </a:r>
            <a:endParaRPr lang="en-US" sz="2800" dirty="0"/>
          </a:p>
          <a:p>
            <a:pPr marL="457200" indent="-457200">
              <a:buFontTx/>
              <a:buChar char="-"/>
            </a:pPr>
            <a:r>
              <a:rPr lang="en-US" sz="2800" dirty="0"/>
              <a:t>HTML5</a:t>
            </a:r>
            <a:endParaRPr lang="en-US" sz="2800" dirty="0"/>
          </a:p>
          <a:p>
            <a:pPr marL="457200" indent="-457200">
              <a:buFontTx/>
              <a:buChar char="-"/>
            </a:pPr>
            <a:r>
              <a:rPr lang="en-US" sz="2800" dirty="0"/>
              <a:t>CSS3</a:t>
            </a:r>
            <a:endParaRPr lang="en-US" sz="2800" dirty="0"/>
          </a:p>
          <a:p>
            <a:pPr marL="457200" indent="-457200">
              <a:buFontTx/>
              <a:buChar char="-"/>
            </a:pPr>
            <a:r>
              <a:rPr lang="en-US" sz="2800" dirty="0"/>
              <a:t>Java</a:t>
            </a:r>
            <a:r>
              <a:rPr lang="en-IN" altLang="en-US" sz="2800" dirty="0"/>
              <a:t> </a:t>
            </a:r>
            <a:r>
              <a:rPr lang="en-US" sz="2800" dirty="0"/>
              <a:t>script</a:t>
            </a:r>
            <a:endParaRPr lang="en-US" sz="2800" dirty="0"/>
          </a:p>
          <a:p>
            <a:pPr marL="457200" indent="-457200">
              <a:buFontTx/>
              <a:buChar char="-"/>
            </a:pPr>
            <a:endParaRPr lang="en-US" sz="2800" dirty="0"/>
          </a:p>
          <a:p>
            <a:pPr marL="457200" indent="-457200">
              <a:buFontTx/>
              <a:buChar char="-"/>
            </a:pPr>
            <a:r>
              <a:rPr lang="en-US" sz="2800" b="1" dirty="0">
                <a:solidFill>
                  <a:srgbClr val="0070C0"/>
                </a:solidFill>
              </a:rPr>
              <a:t>Backend:</a:t>
            </a:r>
            <a:endParaRPr lang="en-US" sz="2800" b="1" dirty="0">
              <a:solidFill>
                <a:srgbClr val="0070C0"/>
              </a:solidFill>
            </a:endParaRPr>
          </a:p>
          <a:p>
            <a:pPr marL="457200" indent="-457200">
              <a:buFontTx/>
              <a:buChar char="-"/>
            </a:pPr>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Node.js (v18+),</a:t>
            </a:r>
            <a:endPar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endParaRPr>
          </a:p>
          <a:p>
            <a:pPr marL="457200" indent="-457200">
              <a:buFontTx/>
              <a:buChar char="-"/>
            </a:pPr>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 Express.js framework</a:t>
            </a:r>
            <a:endParaRPr lang="en-US" sz="2800" b="1" dirty="0">
              <a:solidFill>
                <a:srgbClr val="0070C0"/>
              </a:solidFill>
            </a:endParaRPr>
          </a:p>
          <a:p>
            <a:pPr marL="457200" indent="-457200">
              <a:buFontTx/>
              <a:buChar char="-"/>
            </a:pPr>
            <a:endParaRPr lang="en-US" sz="2800" dirty="0"/>
          </a:p>
          <a:p>
            <a:pPr marL="457200" indent="-457200">
              <a:buFontTx/>
              <a:buChar char="-"/>
            </a:pPr>
            <a:r>
              <a:rPr lang="en-US" sz="2800" b="1" dirty="0">
                <a:solidFill>
                  <a:srgbClr val="0070C0"/>
                </a:solidFill>
              </a:rPr>
              <a:t>Database:</a:t>
            </a:r>
            <a:endParaRPr lang="en-US" sz="2800" b="1" dirty="0">
              <a:solidFill>
                <a:srgbClr val="0070C0"/>
              </a:solidFill>
            </a:endParaRPr>
          </a:p>
          <a:p>
            <a:pPr marL="457200" indent="-457200">
              <a:buFontTx/>
              <a:buChar char="-"/>
            </a:pPr>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MySQL 8.0</a:t>
            </a:r>
            <a:endPar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endParaRPr>
          </a:p>
          <a:p>
            <a:pPr marL="457200" indent="-457200">
              <a:buFontTx/>
              <a:buChar char="-"/>
            </a:pPr>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Node.j</a:t>
            </a:r>
            <a:r>
              <a:rPr lang="en-IN" alt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s</a:t>
            </a:r>
            <a:endParaRPr lang="en-IN" alt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endParaRPr>
          </a:p>
          <a:p>
            <a:pPr marL="457200" indent="-457200">
              <a:buFontTx/>
              <a:buChar char="-"/>
            </a:pPr>
            <a:endParaRPr lang="en-US" sz="2800" b="1" dirty="0">
              <a:solidFill>
                <a:srgbClr val="0070C0"/>
              </a:solidFill>
            </a:endParaRPr>
          </a:p>
          <a:p>
            <a:pPr marL="457200" indent="-457200">
              <a:buFontTx/>
              <a:buChar char="-"/>
            </a:pPr>
            <a:r>
              <a:rPr lang="en-US" sz="2800" b="1" dirty="0">
                <a:solidFill>
                  <a:srgbClr val="0070C0"/>
                </a:solidFill>
              </a:rPr>
              <a:t>Tools:</a:t>
            </a:r>
            <a:endParaRPr lang="en-US" sz="2800" b="1" dirty="0">
              <a:solidFill>
                <a:srgbClr val="0070C0"/>
              </a:solidFill>
            </a:endParaRPr>
          </a:p>
          <a:p>
            <a:pPr marL="457200" indent="-457200">
              <a:buFontTx/>
              <a:buChar char="-"/>
            </a:pPr>
            <a:r>
              <a:rPr lang="en-IN" altLang="en-US" sz="2800" dirty="0"/>
              <a:t>vs code</a:t>
            </a:r>
            <a:endParaRPr lang="en-IN" altLang="en-US" sz="2800" dirty="0"/>
          </a:p>
          <a:p>
            <a:pPr marL="457200" indent="-457200">
              <a:buFontTx/>
              <a:buChar char="-"/>
            </a:pPr>
            <a:r>
              <a:rPr lang="en-IN" altLang="en-US" sz="2800" dirty="0"/>
              <a:t>intellij IDEA</a:t>
            </a:r>
            <a:endParaRPr lang="en-IN" altLang="en-US" sz="2800" dirty="0"/>
          </a:p>
          <a:p>
            <a:pPr marL="457200" indent="-457200">
              <a:buFontTx/>
              <a:buChar char="-"/>
            </a:pPr>
            <a:endParaRPr lang="en-US" sz="2800" dirty="0"/>
          </a:p>
          <a:p>
            <a:pPr marL="457200" indent="-457200">
              <a:buFontTx/>
              <a:buChar char="-"/>
            </a:pPr>
            <a:r>
              <a:rPr lang="en-US" sz="2800" b="1" dirty="0">
                <a:solidFill>
                  <a:srgbClr val="0070C0"/>
                </a:solidFill>
              </a:rPr>
              <a:t>Software Requirements</a:t>
            </a:r>
            <a:r>
              <a:rPr lang="en-US" sz="2800" dirty="0"/>
              <a:t>:</a:t>
            </a:r>
            <a:endParaRPr lang="en-US" sz="2800" dirty="0"/>
          </a:p>
          <a:p>
            <a:pPr marL="457200" indent="-457200">
              <a:buFontTx/>
              <a:buChar char="-"/>
            </a:pPr>
            <a:r>
              <a:rPr lang="en-IN" altLang="en-US" sz="2800" dirty="0"/>
              <a:t>windows/Mac</a:t>
            </a:r>
            <a:endParaRPr lang="en-IN" altLang="en-US" sz="2800" dirty="0"/>
          </a:p>
          <a:p>
            <a:pPr marL="457200" indent="-457200">
              <a:buFontTx/>
              <a:buChar char="-"/>
            </a:pPr>
            <a:r>
              <a:rPr lang="en-IN" altLang="en-US" sz="2800" dirty="0"/>
              <a:t>web Browser</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087880" y="1638300"/>
            <a:ext cx="15082325" cy="11294745"/>
          </a:xfrm>
          <a:prstGeom prst="rect">
            <a:avLst/>
          </a:prstGeom>
          <a:noFill/>
        </p:spPr>
        <p:txBody>
          <a:bodyPr wrap="square" rtlCol="0">
            <a:spAutoFit/>
          </a:bodyPr>
          <a:lstStyle/>
          <a:p>
            <a:endParaRPr lang="en-IN" sz="2800" b="1" dirty="0"/>
          </a:p>
          <a:p>
            <a:r>
              <a:rPr lang="en-IN" sz="2800" b="1" dirty="0">
                <a:solidFill>
                  <a:srgbClr val="FF0000"/>
                </a:solidFill>
              </a:rPr>
              <a:t>----- Example for reference only ---- (Change according to your project)</a:t>
            </a:r>
            <a:endParaRPr lang="en-IN" sz="2800" b="1" dirty="0">
              <a:solidFill>
                <a:srgbClr val="FF0000"/>
              </a:solidFill>
            </a:endParaRPr>
          </a:p>
          <a:p>
            <a:endParaRPr lang="en-IN" sz="2800" b="1" dirty="0"/>
          </a:p>
          <a:p>
            <a:r>
              <a:rPr lang="en-IN" sz="2800" b="1" dirty="0"/>
              <a:t>Module 1: User Management</a:t>
            </a:r>
            <a:endParaRPr lang="en-IN" sz="2800" b="1" dirty="0"/>
          </a:p>
          <a:p>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Handles full student lifecycle: registration form (name, email, student ID, dept, phone), bcrypt password hashing, session-based login/logout, and account validation with duplicate email checks.</a:t>
            </a:r>
            <a:endParaRPr lang="en-US" sz="2800" dirty="0"/>
          </a:p>
          <a:p>
            <a:endParaRPr lang="en-IN" sz="2800" dirty="0"/>
          </a:p>
          <a:p>
            <a:r>
              <a:rPr lang="en-IN" sz="2800" b="1" dirty="0"/>
              <a:t>Module 2: Event Management </a:t>
            </a:r>
            <a:endParaRPr lang="en-IN" sz="2800" b="1" dirty="0"/>
          </a:p>
          <a:p>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Admins create events with title, description, date, location, category, max seats, and image (URL or file upload). Students browse events with live category filters and real-time seat availability</a:t>
            </a:r>
            <a:r>
              <a:rPr lang="en-US" sz="2800" b="1" dirty="0">
                <a:solidFill>
                  <a:srgbClr val="FFFFFF"/>
                </a:solidFill>
                <a:latin typeface="Calibri" panose="020F0502020204030204" charset="0"/>
                <a:ea typeface="Calibri" panose="020F0502020204030204" pitchFamily="34" charset="-122"/>
                <a:cs typeface="Calibri" panose="020F0502020204030204" pitchFamily="34" charset="-120"/>
                <a:sym typeface="+mn-ea"/>
              </a:rPr>
              <a:t>ent Management ModuEvent Management Module</a:t>
            </a:r>
            <a:endParaRPr lang="en-IN" sz="2800" b="1" dirty="0"/>
          </a:p>
          <a:p>
            <a:r>
              <a:rPr lang="en-IN" sz="2800" b="1" dirty="0"/>
              <a:t>Module 3: Registration Engine </a:t>
            </a:r>
            <a:endParaRPr lang="en-IN" sz="2800" b="1" dirty="0"/>
          </a:p>
          <a:p>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Handles event registration logic: duplicate prevention (UNIQUE constraint on email+event_id), seat capacity enforcement, student dashboard with registered events, and one-click cancellation</a:t>
            </a:r>
            <a:endPar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endParaRPr>
          </a:p>
          <a:p>
            <a:endParaRPr lang="en-IN" sz="2800" b="1" dirty="0"/>
          </a:p>
          <a:p>
            <a:r>
              <a:rPr lang="en-IN" sz="2800" b="1" dirty="0"/>
              <a:t>Module 4: Admin Control Panel</a:t>
            </a:r>
            <a:endParaRPr lang="en-IN" sz="2800" b="1" dirty="0"/>
          </a:p>
          <a:p>
            <a:r>
              <a:rPr lang="en-US" sz="2800" dirty="0">
                <a:solidFill>
                  <a:srgbClr val="212121"/>
                </a:solidFill>
                <a:latin typeface="Calibri" panose="020F0502020204030204" charset="0"/>
                <a:ea typeface="Calibri" panose="020F0502020204030204" pitchFamily="34" charset="-122"/>
                <a:cs typeface="Calibri" panose="020F0502020204030204" pitchFamily="34" charset="-120"/>
                <a:sym typeface="+mn-ea"/>
              </a:rPr>
              <a:t>Secured admin portal with separate login, live dashboard stats (total events/users/registrations), event CRUD operations, full registrations table, student roster, and individual record deletion.</a:t>
            </a:r>
            <a:endParaRPr lang="en-US"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828800" y="2171700"/>
            <a:ext cx="14516100" cy="7315200"/>
          </a:xfrm>
          <a:prstGeom prst="rect">
            <a:avLst/>
          </a:prstGeom>
        </p:spPr>
      </p:pic>
      <p:sp>
        <p:nvSpPr>
          <p:cNvPr id="3" name="Text Box 2"/>
          <p:cNvSpPr txBox="1"/>
          <p:nvPr/>
        </p:nvSpPr>
        <p:spPr>
          <a:xfrm>
            <a:off x="1909445" y="1696720"/>
            <a:ext cx="6096000" cy="460375"/>
          </a:xfrm>
          <a:prstGeom prst="rect">
            <a:avLst/>
          </a:prstGeom>
          <a:noFill/>
        </p:spPr>
        <p:txBody>
          <a:bodyPr wrap="square" rtlCol="0">
            <a:spAutoFit/>
          </a:bodyPr>
          <a:p>
            <a:pPr indent="457200"/>
            <a:r>
              <a:rPr lang="en-IN" altLang="en-US" sz="2400">
                <a:solidFill>
                  <a:srgbClr val="0070C0"/>
                </a:solidFill>
                <a:latin typeface="Arial Black" panose="020B0A04020102020204" charset="0"/>
                <a:cs typeface="Arial Black" panose="020B0A04020102020204" charset="0"/>
              </a:rPr>
              <a:t>HOME PAGE:</a:t>
            </a:r>
            <a:endParaRPr lang="en-IN" altLang="en-US" sz="2400">
              <a:solidFill>
                <a:srgbClr val="0070C0"/>
              </a:solidFill>
              <a:latin typeface="Arial Black" panose="020B0A04020102020204" charset="0"/>
              <a:cs typeface="Arial Black" panose="020B0A040201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905000" y="2095500"/>
            <a:ext cx="14561820" cy="7406640"/>
          </a:xfrm>
          <a:prstGeom prst="rect">
            <a:avLst/>
          </a:prstGeom>
        </p:spPr>
      </p:pic>
      <p:sp>
        <p:nvSpPr>
          <p:cNvPr id="3" name="Text Box 2"/>
          <p:cNvSpPr txBox="1"/>
          <p:nvPr/>
        </p:nvSpPr>
        <p:spPr>
          <a:xfrm>
            <a:off x="2514600" y="1409700"/>
            <a:ext cx="6096000" cy="521970"/>
          </a:xfrm>
          <a:prstGeom prst="rect">
            <a:avLst/>
          </a:prstGeom>
          <a:noFill/>
        </p:spPr>
        <p:txBody>
          <a:bodyPr wrap="square" rtlCol="0">
            <a:spAutoFit/>
          </a:bodyPr>
          <a:p>
            <a:r>
              <a:rPr lang="en-IN" altLang="en-US" sz="2800">
                <a:solidFill>
                  <a:srgbClr val="0070C0"/>
                </a:solidFill>
                <a:latin typeface="Arial Black" panose="020B0A04020102020204" charset="0"/>
                <a:cs typeface="Arial Black" panose="020B0A04020102020204" charset="0"/>
              </a:rPr>
              <a:t>REGISTRATION PAGE:</a:t>
            </a:r>
            <a:endParaRPr lang="en-IN" altLang="en-US" sz="2800">
              <a:solidFill>
                <a:srgbClr val="0070C0"/>
              </a:solidFill>
              <a:latin typeface="Arial Black" panose="020B0A04020102020204" charset="0"/>
              <a:cs typeface="Arial Black" panose="020B0A0402010202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752600" y="2247900"/>
            <a:ext cx="14485620" cy="7284720"/>
          </a:xfrm>
          <a:prstGeom prst="rect">
            <a:avLst/>
          </a:prstGeom>
        </p:spPr>
      </p:pic>
      <p:sp>
        <p:nvSpPr>
          <p:cNvPr id="4" name="Text Box 3"/>
          <p:cNvSpPr txBox="1"/>
          <p:nvPr/>
        </p:nvSpPr>
        <p:spPr>
          <a:xfrm>
            <a:off x="2133600" y="1569720"/>
            <a:ext cx="6096000" cy="460375"/>
          </a:xfrm>
          <a:prstGeom prst="rect">
            <a:avLst/>
          </a:prstGeom>
          <a:noFill/>
        </p:spPr>
        <p:txBody>
          <a:bodyPr wrap="square" rtlCol="0">
            <a:spAutoFit/>
          </a:bodyPr>
          <a:p>
            <a:r>
              <a:rPr lang="en-IN" altLang="en-US" sz="2400" b="1">
                <a:solidFill>
                  <a:srgbClr val="0070C0"/>
                </a:solidFill>
                <a:latin typeface="Arial Black" panose="020B0A04020102020204" charset="0"/>
                <a:cs typeface="Arial Black" panose="020B0A04020102020204" charset="0"/>
              </a:rPr>
              <a:t>LOGIN PAGE:</a:t>
            </a:r>
            <a:endParaRPr lang="en-IN" altLang="en-US" sz="2400" b="1">
              <a:solidFill>
                <a:srgbClr val="0070C0"/>
              </a:solidFill>
              <a:latin typeface="Arial Black" panose="020B0A04020102020204" charset="0"/>
              <a:cs typeface="Arial Black" panose="020B0A040201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727835" y="2475230"/>
            <a:ext cx="14607540" cy="7391400"/>
          </a:xfrm>
          <a:prstGeom prst="rect">
            <a:avLst/>
          </a:prstGeom>
        </p:spPr>
      </p:pic>
      <p:sp>
        <p:nvSpPr>
          <p:cNvPr id="2" name="Text Box 1"/>
          <p:cNvSpPr txBox="1"/>
          <p:nvPr/>
        </p:nvSpPr>
        <p:spPr>
          <a:xfrm>
            <a:off x="2133600" y="1638300"/>
            <a:ext cx="9144000" cy="521970"/>
          </a:xfrm>
          <a:prstGeom prst="rect">
            <a:avLst/>
          </a:prstGeom>
          <a:noFill/>
        </p:spPr>
        <p:txBody>
          <a:bodyPr wrap="square" rtlCol="0" anchor="t">
            <a:spAutoFit/>
          </a:bodyPr>
          <a:p>
            <a:r>
              <a:rPr lang="en-IN" altLang="en-US" sz="2800" b="1">
                <a:solidFill>
                  <a:srgbClr val="0070C0"/>
                </a:solidFill>
                <a:latin typeface="Arial Black" panose="020B0A04020102020204" charset="0"/>
                <a:cs typeface="Arial Black" panose="020B0A04020102020204" charset="0"/>
                <a:sym typeface="+mn-ea"/>
              </a:rPr>
              <a:t>OUTPUT PAGE:</a:t>
            </a:r>
            <a:endParaRPr lang="en-IN" altLang="en-US" sz="2800" b="1">
              <a:solidFill>
                <a:srgbClr val="0070C0"/>
              </a:solidFill>
              <a:latin typeface="Arial Black" panose="020B0A04020102020204" charset="0"/>
              <a:cs typeface="Arial Black" panose="020B0A0402010202020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Text Box 34"/>
          <p:cNvSpPr txBox="1"/>
          <p:nvPr/>
        </p:nvSpPr>
        <p:spPr>
          <a:xfrm>
            <a:off x="2895600" y="1943100"/>
            <a:ext cx="6096000" cy="583565"/>
          </a:xfrm>
          <a:prstGeom prst="rect">
            <a:avLst/>
          </a:prstGeom>
          <a:noFill/>
        </p:spPr>
        <p:txBody>
          <a:bodyPr wrap="square" rtlCol="0">
            <a:spAutoFit/>
          </a:bodyPr>
          <a:p>
            <a:r>
              <a:rPr lang="en-IN" altLang="en-US" sz="3200" b="1">
                <a:solidFill>
                  <a:srgbClr val="0070C0"/>
                </a:solidFill>
              </a:rPr>
              <a:t>Advantages</a:t>
            </a:r>
            <a:endParaRPr lang="en-IN" altLang="en-US" sz="3200" b="1">
              <a:solidFill>
                <a:srgbClr val="0070C0"/>
              </a:solidFill>
            </a:endParaRPr>
          </a:p>
        </p:txBody>
      </p:sp>
      <p:sp>
        <p:nvSpPr>
          <p:cNvPr id="36" name="Text Box 35"/>
          <p:cNvSpPr txBox="1"/>
          <p:nvPr/>
        </p:nvSpPr>
        <p:spPr>
          <a:xfrm>
            <a:off x="2371090" y="2635885"/>
            <a:ext cx="6096000" cy="2582545"/>
          </a:xfrm>
          <a:prstGeom prst="rect">
            <a:avLst/>
          </a:prstGeom>
          <a:noFill/>
        </p:spPr>
        <p:txBody>
          <a:bodyPr wrap="square" rtlCol="0">
            <a:spAutoFit/>
          </a:bodyPr>
          <a:p>
            <a:pPr marL="342900" indent="-342900" algn="just">
              <a:lnSpc>
                <a:spcPct val="180000"/>
              </a:lnSpc>
              <a:buAutoNum type="arabicPeriod"/>
            </a:pPr>
            <a:r>
              <a:rPr lang="en-IN" altLang="en-US"/>
              <a:t> </a:t>
            </a:r>
            <a:r>
              <a:rPr lang="en-US" altLang="en-US"/>
              <a:t>Easy online event registration for students.</a:t>
            </a:r>
            <a:endParaRPr lang="en-US" altLang="en-US"/>
          </a:p>
          <a:p>
            <a:pPr marL="342900" indent="-342900" algn="just">
              <a:lnSpc>
                <a:spcPct val="180000"/>
              </a:lnSpc>
              <a:buAutoNum type="arabicPeriod"/>
            </a:pPr>
            <a:r>
              <a:rPr lang="en-US" altLang="en-US"/>
              <a:t>Reduces paperwork and manual work.</a:t>
            </a:r>
            <a:endParaRPr lang="en-US" altLang="en-US"/>
          </a:p>
          <a:p>
            <a:pPr marL="342900" indent="-342900" algn="just">
              <a:lnSpc>
                <a:spcPct val="180000"/>
              </a:lnSpc>
              <a:buAutoNum type="arabicPeriod"/>
            </a:pPr>
            <a:r>
              <a:rPr lang="en-US" altLang="en-US"/>
              <a:t>Centralized management of all campus events.</a:t>
            </a:r>
            <a:endParaRPr lang="en-US" altLang="en-US"/>
          </a:p>
          <a:p>
            <a:pPr marL="342900" indent="-342900" algn="just">
              <a:lnSpc>
                <a:spcPct val="180000"/>
              </a:lnSpc>
              <a:buAutoNum type="arabicPeriod"/>
            </a:pPr>
            <a:r>
              <a:rPr lang="en-US" altLang="en-US"/>
              <a:t>Secure login system for students and admin.</a:t>
            </a:r>
            <a:endParaRPr lang="en-US" altLang="en-US"/>
          </a:p>
          <a:p>
            <a:pPr marL="342900" indent="-342900" algn="just">
              <a:lnSpc>
                <a:spcPct val="180000"/>
              </a:lnSpc>
              <a:buAutoNum type="arabicPeriod"/>
            </a:pPr>
            <a:r>
              <a:rPr lang="en-US" altLang="en-US"/>
              <a:t>Quick access to participant and event reports.</a:t>
            </a:r>
            <a:endParaRPr lang="en-US" altLang="en-US"/>
          </a:p>
        </p:txBody>
      </p:sp>
      <p:sp>
        <p:nvSpPr>
          <p:cNvPr id="37" name="Text Box 36"/>
          <p:cNvSpPr txBox="1"/>
          <p:nvPr/>
        </p:nvSpPr>
        <p:spPr>
          <a:xfrm>
            <a:off x="2819400" y="5524500"/>
            <a:ext cx="6096000" cy="583565"/>
          </a:xfrm>
          <a:prstGeom prst="rect">
            <a:avLst/>
          </a:prstGeom>
          <a:noFill/>
        </p:spPr>
        <p:txBody>
          <a:bodyPr wrap="square" rtlCol="0">
            <a:spAutoFit/>
          </a:bodyPr>
          <a:p>
            <a:r>
              <a:rPr lang="en-IN" altLang="en-US" sz="3200" b="1">
                <a:solidFill>
                  <a:srgbClr val="0070C0"/>
                </a:solidFill>
              </a:rPr>
              <a:t>Limitations</a:t>
            </a:r>
            <a:endParaRPr lang="en-IN" altLang="en-US" sz="3200" b="1">
              <a:solidFill>
                <a:srgbClr val="0070C0"/>
              </a:solidFill>
            </a:endParaRPr>
          </a:p>
        </p:txBody>
      </p:sp>
      <p:sp>
        <p:nvSpPr>
          <p:cNvPr id="38" name="Text Box 37"/>
          <p:cNvSpPr txBox="1"/>
          <p:nvPr/>
        </p:nvSpPr>
        <p:spPr>
          <a:xfrm>
            <a:off x="2371090" y="6286500"/>
            <a:ext cx="6096000" cy="2582545"/>
          </a:xfrm>
          <a:prstGeom prst="rect">
            <a:avLst/>
          </a:prstGeom>
          <a:noFill/>
        </p:spPr>
        <p:txBody>
          <a:bodyPr wrap="square" rtlCol="0">
            <a:spAutoFit/>
          </a:bodyPr>
          <a:p>
            <a:pPr marL="342900" indent="-342900" algn="just">
              <a:lnSpc>
                <a:spcPct val="180000"/>
              </a:lnSpc>
              <a:buAutoNum type="arabicPeriod"/>
            </a:pPr>
            <a:r>
              <a:rPr lang="en-US" altLang="en-US"/>
              <a:t>Requires internet connection to access.</a:t>
            </a:r>
            <a:endParaRPr lang="en-US" altLang="en-US"/>
          </a:p>
          <a:p>
            <a:pPr marL="342900" indent="-342900" algn="just">
              <a:lnSpc>
                <a:spcPct val="180000"/>
              </a:lnSpc>
              <a:buAutoNum type="arabicPeriod"/>
            </a:pPr>
            <a:r>
              <a:rPr lang="en-US" altLang="en-US"/>
              <a:t>Limited to basic roles (Admin and Student).</a:t>
            </a:r>
            <a:endParaRPr lang="en-US" altLang="en-US"/>
          </a:p>
          <a:p>
            <a:pPr marL="342900" indent="-342900" algn="just">
              <a:lnSpc>
                <a:spcPct val="180000"/>
              </a:lnSpc>
              <a:buAutoNum type="arabicPeriod"/>
            </a:pPr>
            <a:r>
              <a:rPr lang="en-US" altLang="en-US"/>
              <a:t>No built-in payment system (if not integrated).</a:t>
            </a:r>
            <a:endParaRPr lang="en-US" altLang="en-US"/>
          </a:p>
          <a:p>
            <a:pPr marL="342900" indent="-342900" algn="just">
              <a:lnSpc>
                <a:spcPct val="180000"/>
              </a:lnSpc>
              <a:buAutoNum type="arabicPeriod"/>
            </a:pPr>
            <a:r>
              <a:rPr lang="en-US" altLang="en-US"/>
              <a:t>Performance may slow with heavy traffic.</a:t>
            </a:r>
            <a:endParaRPr lang="en-US" altLang="en-US"/>
          </a:p>
          <a:p>
            <a:pPr marL="342900" indent="-342900" algn="just">
              <a:lnSpc>
                <a:spcPct val="180000"/>
              </a:lnSpc>
              <a:buAutoNum type="arabicPeriod"/>
            </a:pPr>
            <a:r>
              <a:rPr lang="en-US" altLang="en-US"/>
              <a:t>Requires regular maintenance and updates.</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4646</Words>
  <Application>WPS Presentation</Application>
  <PresentationFormat>Custom</PresentationFormat>
  <Paragraphs>491</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Cambria</vt:lpstr>
      <vt:lpstr>Bookman Old Style</vt:lpstr>
      <vt:lpstr>Times New Roman</vt:lpstr>
      <vt:lpstr>Gotham</vt:lpstr>
      <vt:lpstr>Calibri</vt:lpstr>
      <vt:lpstr>Calibri</vt:lpstr>
      <vt:lpstr>Calibri</vt:lpstr>
      <vt:lpstr>Arial Black</vt:lpstr>
      <vt:lpstr>Gotham Bold Italics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Laga Adi narayana</cp:lastModifiedBy>
  <cp:revision>14</cp:revision>
  <dcterms:created xsi:type="dcterms:W3CDTF">2006-08-16T00:00:00Z</dcterms:created>
  <dcterms:modified xsi:type="dcterms:W3CDTF">2026-03-23T01:43:56Z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202CF3BEAC864C22A0D741FE8FE25E9A_12</vt:lpwstr>
  </property>
  <property fmtid="{D5CDD505-2E9C-101B-9397-08002B2CF9AE}" pid="3" name="KSOProductBuildVer">
    <vt:lpwstr>1033-12.1.0.25242</vt:lpwstr>
  </property>
</Properties>
</file>